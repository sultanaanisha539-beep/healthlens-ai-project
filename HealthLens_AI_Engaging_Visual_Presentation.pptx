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88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909" autoAdjust="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31B1F-2240-4ED0-9354-9A866189D23C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779D-E3DD-45C9-9A30-C6481706A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99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779D-E3DD-45C9-9A30-C6481706ABB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08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779D-E3DD-45C9-9A30-C6481706ABB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342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909560" y="685800"/>
            <a:ext cx="3383280" cy="3383280"/>
          </a:xfrm>
          <a:prstGeom prst="roundRect">
            <a:avLst/>
          </a:prstGeom>
          <a:solidFill>
            <a:srgbClr val="0A1F3D"/>
          </a:solidFill>
          <a:ln>
            <a:solidFill>
              <a:srgbClr val="1D5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366760" y="1143000"/>
            <a:ext cx="2468880" cy="2468880"/>
          </a:xfrm>
          <a:prstGeom prst="roundRect">
            <a:avLst/>
          </a:prstGeom>
          <a:solidFill>
            <a:srgbClr val="0F2A4E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41080" y="1417320"/>
            <a:ext cx="1920240" cy="5029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700"/>
              </a:spcAft>
              <a:defRPr sz="4200" b="1">
                <a:solidFill>
                  <a:srgbClr val="4BDCFF"/>
                </a:solidFill>
                <a:latin typeface="Aptos"/>
              </a:defRPr>
            </a:pPr>
            <a:r>
              <a:t>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30768" y="2029968"/>
            <a:ext cx="2331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400" b="1">
                <a:solidFill>
                  <a:srgbClr val="F5F9FF"/>
                </a:solidFill>
                <a:latin typeface="Aptos"/>
              </a:defRPr>
            </a:pPr>
            <a:r>
              <a:t>HEALTHLENS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094923"/>
            <a:ext cx="6766560" cy="12618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3800" b="1">
                <a:solidFill>
                  <a:srgbClr val="F5F9FF"/>
                </a:solidFill>
                <a:latin typeface="Aptos"/>
              </a:defRPr>
            </a:pPr>
            <a:r>
              <a:rPr lang="en-US" dirty="0"/>
              <a:t>QR-Based Smart Health Information Access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49808" y="2395728"/>
            <a:ext cx="658368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2599FF"/>
                </a:solidFill>
                <a:latin typeface="Aptos"/>
              </a:defRPr>
            </a:pPr>
            <a:r>
              <a:rPr lang="en-US" dirty="0"/>
              <a:t>The Right Health Information. When Every Second Matters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777240" y="3657600"/>
            <a:ext cx="62179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0">
                <a:solidFill>
                  <a:srgbClr val="B4CAE4"/>
                </a:solidFill>
                <a:latin typeface="Aptos"/>
              </a:defRPr>
            </a:pPr>
            <a:r>
              <a:t>Turning a working QR health-profile demo into a safer, clearer, judge-ready prototype.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846320"/>
            <a:ext cx="150876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911108"/>
            <a:ext cx="141731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2599FF"/>
                </a:solidFill>
                <a:latin typeface="Aptos"/>
              </a:defRPr>
            </a:pPr>
            <a:r>
              <a:rPr lang="en-IN" dirty="0"/>
              <a:t>QR-BASED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4846320"/>
            <a:ext cx="150876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40D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68879" y="4852451"/>
            <a:ext cx="1417319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0DCA7"/>
                </a:solidFill>
                <a:latin typeface="Aptos"/>
              </a:defRPr>
            </a:pPr>
            <a:r>
              <a:rPr lang="en-US" sz="1000" dirty="0"/>
              <a:t>CONSENT –FIRST PRIVACY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846320"/>
            <a:ext cx="150876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0" y="4911108"/>
            <a:ext cx="141731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rPr dirty="0"/>
              <a:t>R</a:t>
            </a:r>
            <a:r>
              <a:rPr lang="en-US" dirty="0"/>
              <a:t>ESPONSIBLE AI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pic>
        <p:nvPicPr>
          <p:cNvPr id="19" name="Picture 18" descr="QR Code Blog | Tips, Guides &amp; Best Practices | GenerateQRcode.org">
            <a:extLst>
              <a:ext uri="{FF2B5EF4-FFF2-40B4-BE49-F238E27FC236}">
                <a16:creationId xmlns:a16="http://schemas.microsoft.com/office/drawing/2014/main" id="{FA07E91F-D3F3-2F8B-0EAB-6B0FB759F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730" y="641128"/>
            <a:ext cx="4147795" cy="3734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01 / STARTING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US" dirty="0"/>
              <a:t>From Working Prototype to Hackathon-Ready Solution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US" dirty="0"/>
              <a:t>A QR-based health information demo with a clear path toward stronger reliability, privacy, and user trust..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520440" cy="324612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3246120"/>
          </a:xfrm>
          <a:prstGeom prst="rect">
            <a:avLst/>
          </a:prstGeom>
          <a:solidFill>
            <a:srgbClr val="40D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dirty="0"/>
              <a:t>WHAT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273552" cy="12234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QR</a:t>
            </a:r>
            <a:r>
              <a:rPr lang="en-US" dirty="0"/>
              <a:t>-code </a:t>
            </a:r>
            <a:r>
              <a:rPr dirty="0"/>
              <a:t>generation and download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Camera capture </a:t>
            </a:r>
            <a:r>
              <a:rPr lang="en-US" dirty="0"/>
              <a:t>and</a:t>
            </a:r>
            <a:r>
              <a:rPr dirty="0"/>
              <a:t> image upload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Two fictional </a:t>
            </a:r>
            <a:r>
              <a:rPr lang="en-US" dirty="0"/>
              <a:t>health-</a:t>
            </a:r>
            <a:r>
              <a:rPr dirty="0"/>
              <a:t>profile</a:t>
            </a:r>
            <a:r>
              <a:rPr lang="en-US" dirty="0"/>
              <a:t> examples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Consent </a:t>
            </a:r>
            <a:r>
              <a:rPr lang="en-US" dirty="0"/>
              <a:t>step and</a:t>
            </a:r>
            <a:r>
              <a:rPr dirty="0"/>
              <a:t> </a:t>
            </a:r>
            <a:r>
              <a:rPr lang="en-US" dirty="0"/>
              <a:t>rule-based </a:t>
            </a:r>
            <a:r>
              <a:rPr dirty="0"/>
              <a:t>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520440" cy="324612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64008" cy="3246120"/>
          </a:xfrm>
          <a:prstGeom prst="rect">
            <a:avLst/>
          </a:prstGeom>
          <a:solidFill>
            <a:srgbClr val="FF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lang="en-US" dirty="0"/>
              <a:t>PRIORITY IMPROVEMENTS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44568" y="2597853"/>
            <a:ext cx="3223260" cy="20851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just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Validate missing, invalid, or unreadable   QR inputs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Separate consent from identity verification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Define session clearing and data-retention behaviour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Add clear error messages and recovery steps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520440" cy="324612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2057400"/>
            <a:ext cx="64008" cy="3246120"/>
          </a:xfrm>
          <a:prstGeom prst="rect">
            <a:avLst/>
          </a:prstGeom>
          <a:solidFill>
            <a:srgbClr val="4B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WHAT JUDGES SHOULD SEE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624328"/>
            <a:ext cx="3273552" cy="18697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A clean, intuitive user interface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A successful scan and a failed-scan demonstration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Transparent explanation of current AI capabilities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Clear privacy safeguards and demo-only boundaries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23" name="Rounded Rectangle 30">
            <a:extLst>
              <a:ext uri="{FF2B5EF4-FFF2-40B4-BE49-F238E27FC236}">
                <a16:creationId xmlns:a16="http://schemas.microsoft.com/office/drawing/2014/main" id="{9C4352C5-3F0E-F171-6561-D741FB12FC90}"/>
              </a:ext>
            </a:extLst>
          </p:cNvPr>
          <p:cNvSpPr/>
          <p:nvPr/>
        </p:nvSpPr>
        <p:spPr>
          <a:xfrm>
            <a:off x="868680" y="5550408"/>
            <a:ext cx="10332720" cy="658368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>
                <a:latin typeface="Aptos" panose="020B0004020202020204" pitchFamily="34" charset="0"/>
              </a:rPr>
              <a:t>A reliable demo workflow with clear consent, safe error handling, and transparent limitations.</a:t>
            </a:r>
            <a:endParaRPr sz="15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02 / RELIABLE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10438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A Transparent Workflow. Safe at Every Step.</a:t>
            </a:r>
          </a:p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Validate inputs, obtain consent, control access, and handle failures without exposing stale data.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965960" cy="192024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65176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4BDC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27248"/>
            <a:ext cx="1645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561659"/>
            <a:ext cx="1645920" cy="7360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r>
              <a:rPr lang="en-IN" sz="1200" dirty="0">
                <a:solidFill>
                  <a:srgbClr val="B4CAE4"/>
                </a:solidFill>
                <a:latin typeface="Aptos"/>
              </a:rPr>
              <a:t>Scan a QR code or upload an image.</a:t>
            </a:r>
          </a:p>
          <a:p>
            <a:pPr algn="l"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2633472" y="312724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9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2468880"/>
            <a:ext cx="1965960" cy="192024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0" y="265176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4BDC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127248"/>
            <a:ext cx="16459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4388" y="3558123"/>
            <a:ext cx="16459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r>
              <a:rPr lang="en-IN" sz="1200" dirty="0">
                <a:solidFill>
                  <a:srgbClr val="B4CAE4"/>
                </a:solidFill>
                <a:latin typeface="Aptos"/>
              </a:rPr>
              <a:t>Check QR format, token validity, and expiry where supported.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937760" y="312724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9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48656" y="2468880"/>
            <a:ext cx="1965960" cy="192024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265176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4BDC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127248"/>
            <a:ext cx="16459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rPr dirty="0"/>
              <a:t>CONSENT</a:t>
            </a:r>
            <a:r>
              <a:rPr lang="en-US" dirty="0"/>
              <a:t> 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5376672" y="3562141"/>
            <a:ext cx="16459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r>
              <a:rPr lang="en-IN" sz="1200" dirty="0">
                <a:solidFill>
                  <a:srgbClr val="B4CAE4"/>
                </a:solidFill>
                <a:latin typeface="Aptos"/>
              </a:rPr>
              <a:t>Record consent and verify access permissions where implemented.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242048" y="312724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9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52944" y="2468880"/>
            <a:ext cx="1965960" cy="192024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17536" y="265176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4BDC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127248"/>
            <a:ext cx="16459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rPr lang="en-US" dirty="0"/>
              <a:t>DISPLAY PROFILE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680960" y="3566160"/>
            <a:ext cx="16459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r>
              <a:rPr lang="en-IN" sz="1200" dirty="0">
                <a:solidFill>
                  <a:srgbClr val="B4CAE4"/>
                </a:solidFill>
                <a:latin typeface="Aptos"/>
              </a:rPr>
              <a:t>Show only the permitted synthetic health information.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9546336" y="3127248"/>
            <a:ext cx="2743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000" b="1">
                <a:solidFill>
                  <a:srgbClr val="2599F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57232" y="2468880"/>
            <a:ext cx="1965960" cy="192024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21824" y="2651760"/>
            <a:ext cx="502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1">
                <a:solidFill>
                  <a:srgbClr val="4BDC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21824" y="3127248"/>
            <a:ext cx="1645920" cy="3231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r>
              <a:rPr lang="en-IN" sz="1500" b="1" dirty="0">
                <a:solidFill>
                  <a:srgbClr val="F5F9FF"/>
                </a:solidFill>
                <a:latin typeface="Aptos"/>
              </a:rPr>
              <a:t>REVIEW &amp; CLEAR</a:t>
            </a:r>
            <a:endParaRPr dirty="0"/>
          </a:p>
        </p:txBody>
      </p:sp>
      <p:sp>
        <p:nvSpPr>
          <p:cNvPr id="30" name="TextBox 29"/>
          <p:cNvSpPr txBox="1"/>
          <p:nvPr/>
        </p:nvSpPr>
        <p:spPr>
          <a:xfrm>
            <a:off x="10017252" y="3558123"/>
            <a:ext cx="16459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200" b="0">
                <a:solidFill>
                  <a:srgbClr val="B4CAE4"/>
                </a:solidFill>
                <a:latin typeface="Aptos"/>
              </a:defRPr>
            </a:pPr>
            <a:r>
              <a:rPr lang="en-IN" sz="1200" dirty="0">
                <a:solidFill>
                  <a:srgbClr val="B4CAE4"/>
                </a:solidFill>
                <a:latin typeface="Aptos"/>
              </a:rPr>
              <a:t>Let the user review details and clear the displayed profile when finished.</a:t>
            </a:r>
            <a:endParaRPr dirty="0"/>
          </a:p>
        </p:txBody>
      </p:sp>
      <p:sp>
        <p:nvSpPr>
          <p:cNvPr id="31" name="Rounded Rectangle 30"/>
          <p:cNvSpPr/>
          <p:nvPr/>
        </p:nvSpPr>
        <p:spPr>
          <a:xfrm>
            <a:off x="749808" y="4690872"/>
            <a:ext cx="11073384" cy="923544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813938"/>
            <a:ext cx="987552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500" dirty="0">
                <a:solidFill>
                  <a:schemeClr val="bg2"/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FAIL-SAFE DESIGN</a:t>
            </a:r>
          </a:p>
          <a:p>
            <a:r>
              <a:rPr lang="en-IN" sz="1500" dirty="0">
                <a:solidFill>
                  <a:schemeClr val="bg2"/>
                </a:solidFill>
                <a:latin typeface="Aptos" panose="020B0004020202020204" pitchFamily="34" charset="0"/>
              </a:rPr>
              <a:t>                                                                             Invalid QR → Clear error → Safe reset → Retry</a:t>
            </a:r>
          </a:p>
          <a:p>
            <a:r>
              <a:rPr lang="en-IN" sz="1500" dirty="0">
                <a:solidFill>
                  <a:schemeClr val="bg2"/>
                </a:solidFill>
                <a:latin typeface="Aptos" panose="020B0004020202020204" pitchFamily="34" charset="0"/>
              </a:rPr>
              <a:t>                                                   Never leave a previous patient's profile visible after a failed scan.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33" name="TextBox 32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03 /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10438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Expect Failure. Recover Safely.</a:t>
            </a:r>
          </a:p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Validate every input, handle errors clearly, and prevent stale health information from remaining on screen.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257800" cy="338328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338328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89204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INPUT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4873752" cy="215700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 Accept only supported image formats.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 Enforce a maximum upload size.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 Handle corrupt or unreadable images gracefully.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 Reject empty scans and unknown QR tokens.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Show safe error messages without exposing technical         details.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217920" y="2057400"/>
            <a:ext cx="5257800" cy="338328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057400"/>
            <a:ext cx="64008" cy="3383280"/>
          </a:xfrm>
          <a:prstGeom prst="rect">
            <a:avLst/>
          </a:prstGeom>
          <a:solidFill>
            <a:srgbClr val="4B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89204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lang="en-IN" sz="1700" b="1" dirty="0">
                <a:solidFill>
                  <a:srgbClr val="F5F9FF"/>
                </a:solidFill>
                <a:latin typeface="Aptos"/>
              </a:rPr>
              <a:t>EDGE-CASE TESTING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19088" y="2624328"/>
            <a:ext cx="4873752" cy="1926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Valid QR </a:t>
            </a:r>
            <a:r>
              <a:rPr lang="en-US" dirty="0"/>
              <a:t>,</a:t>
            </a:r>
            <a:r>
              <a:rPr dirty="0"/>
              <a:t>invalid QR </a:t>
            </a:r>
            <a:r>
              <a:rPr lang="en-US" dirty="0"/>
              <a:t>,</a:t>
            </a:r>
            <a:r>
              <a:rPr dirty="0"/>
              <a:t>blurry image</a:t>
            </a:r>
            <a:r>
              <a:rPr lang="en-US" dirty="0"/>
              <a:t>s.</a:t>
            </a:r>
            <a:endParaRPr dirty="0"/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Camera</a:t>
            </a:r>
            <a:r>
              <a:rPr lang="en-US" dirty="0"/>
              <a:t> permission</a:t>
            </a:r>
            <a:r>
              <a:rPr dirty="0"/>
              <a:t> denied or unavailable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Consent unchecked or revoked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 Page refresh, repeated scans, and session reset.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Slow connection and mobile-browser behaviour.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18" name="Rounded Rectangle 30">
            <a:extLst>
              <a:ext uri="{FF2B5EF4-FFF2-40B4-BE49-F238E27FC236}">
                <a16:creationId xmlns:a16="http://schemas.microsoft.com/office/drawing/2014/main" id="{65D4994B-2A0E-3141-B56C-98CD3C5830DE}"/>
              </a:ext>
            </a:extLst>
          </p:cNvPr>
          <p:cNvSpPr/>
          <p:nvPr/>
        </p:nvSpPr>
        <p:spPr>
          <a:xfrm>
            <a:off x="745236" y="5574132"/>
            <a:ext cx="11073384" cy="923544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dirty="0">
                <a:latin typeface="Aptos" panose="020B0004020202020204" pitchFamily="34" charset="0"/>
              </a:rPr>
              <a:t>                                                                                                        RELIABILITY SUCCESS CRITERION</a:t>
            </a:r>
          </a:p>
          <a:p>
            <a:r>
              <a:rPr lang="en-IN" sz="1500" b="1" dirty="0">
                <a:latin typeface="Aptos" panose="020B0004020202020204" pitchFamily="34" charset="0"/>
              </a:rPr>
              <a:t>                                                                  Every test produces a correct outcome or a clear recovery path.</a:t>
            </a:r>
          </a:p>
          <a:p>
            <a:r>
              <a:rPr lang="en-IN" sz="1500" dirty="0">
                <a:latin typeface="Aptos" panose="020B0004020202020204" pitchFamily="34" charset="0"/>
              </a:rPr>
              <a:t>                                                                     No silent failures • No stale profiles • No sensitive error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04 /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dirty="0"/>
              <a:t>A QR </a:t>
            </a:r>
            <a:r>
              <a:rPr lang="en-US" dirty="0"/>
              <a:t>C</a:t>
            </a:r>
            <a:r>
              <a:rPr dirty="0"/>
              <a:t>ode </a:t>
            </a:r>
            <a:r>
              <a:rPr lang="en-US" dirty="0"/>
              <a:t>S</a:t>
            </a:r>
            <a:r>
              <a:rPr dirty="0"/>
              <a:t>hould </a:t>
            </a:r>
            <a:r>
              <a:rPr lang="en-US" dirty="0"/>
              <a:t>I</a:t>
            </a:r>
            <a:r>
              <a:rPr dirty="0"/>
              <a:t>dentify—</a:t>
            </a:r>
            <a:r>
              <a:rPr lang="en-US" dirty="0"/>
              <a:t>N</a:t>
            </a:r>
            <a:r>
              <a:rPr dirty="0"/>
              <a:t>ot </a:t>
            </a:r>
            <a:r>
              <a:rPr lang="en-US" dirty="0"/>
              <a:t>E</a:t>
            </a:r>
            <a:r>
              <a:rPr dirty="0"/>
              <a:t>xpose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Minimize exposed data, respect user consent, and protect access to health information.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3520440" cy="342900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2057400"/>
            <a:ext cx="64008" cy="3429000"/>
          </a:xfrm>
          <a:prstGeom prst="rect">
            <a:avLst/>
          </a:prstGeom>
          <a:solidFill>
            <a:srgbClr val="40D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15468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lang="en-US" dirty="0"/>
              <a:t>CURRENT</a:t>
            </a:r>
            <a:r>
              <a:rPr dirty="0"/>
              <a:t> · DEMO SAFE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624328"/>
            <a:ext cx="3136392" cy="17774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Use synthetic </a:t>
            </a:r>
            <a:r>
              <a:rPr lang="en-US" dirty="0"/>
              <a:t>health </a:t>
            </a:r>
            <a:r>
              <a:rPr dirty="0"/>
              <a:t>data only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Keep medical details out of QR</a:t>
            </a:r>
            <a:r>
              <a:rPr lang="en-US" dirty="0"/>
              <a:t> code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Clear displayed profile on revoke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Avoid embedding profile contents in QR tokens.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520440" cy="342900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2057400"/>
            <a:ext cx="64008" cy="342900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22128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NEXT · SECURE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624328"/>
            <a:ext cx="3136392" cy="248016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Authenticated users</a:t>
            </a:r>
            <a:r>
              <a:rPr lang="en-US" dirty="0"/>
              <a:t> and verify their permissions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Enforce authorization on the server for each record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Add consent expiry and revocation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 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Protect data in transit and at rest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Use short-lived, revocable QR access tokens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01000" y="2057400"/>
            <a:ext cx="3520440" cy="342900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1000" y="2057400"/>
            <a:ext cx="64008" cy="3429000"/>
          </a:xfrm>
          <a:prstGeom prst="rect">
            <a:avLst/>
          </a:prstGeom>
          <a:solidFill>
            <a:srgbClr val="FFB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02168" y="2212848"/>
            <a:ext cx="31546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BEFORE REAL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624328"/>
            <a:ext cx="3136392" cy="16542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Threat model and security review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Implement a</a:t>
            </a:r>
            <a:r>
              <a:rPr dirty="0"/>
              <a:t>ccess </a:t>
            </a:r>
            <a:r>
              <a:rPr lang="en-US" dirty="0"/>
              <a:t>l</a:t>
            </a:r>
            <a:r>
              <a:rPr dirty="0"/>
              <a:t>ogs and retention polic</a:t>
            </a:r>
            <a:r>
              <a:rPr lang="en-US" dirty="0"/>
              <a:t>ies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Review applicable privacy and legal requirements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Clinical validation and incident plan</a:t>
            </a:r>
          </a:p>
        </p:txBody>
      </p:sp>
      <p:pic>
        <p:nvPicPr>
          <p:cNvPr id="19" name="Picture 18" descr="healthlens_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389120"/>
            <a:ext cx="155448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24" name="Rounded Rectangle 30">
            <a:extLst>
              <a:ext uri="{FF2B5EF4-FFF2-40B4-BE49-F238E27FC236}">
                <a16:creationId xmlns:a16="http://schemas.microsoft.com/office/drawing/2014/main" id="{3BBA772F-23BF-8620-2DCD-C099451B41A4}"/>
              </a:ext>
            </a:extLst>
          </p:cNvPr>
          <p:cNvSpPr/>
          <p:nvPr/>
        </p:nvSpPr>
        <p:spPr>
          <a:xfrm>
            <a:off x="745236" y="5574132"/>
            <a:ext cx="11073384" cy="881532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dirty="0">
                <a:latin typeface="Aptos" panose="020B0004020202020204" pitchFamily="34" charset="0"/>
              </a:rPr>
              <a:t>                                                                                                       </a:t>
            </a:r>
          </a:p>
          <a:p>
            <a:r>
              <a:rPr lang="en-IN" sz="1500" dirty="0">
                <a:latin typeface="Aptos" panose="020B0004020202020204" pitchFamily="34" charset="0"/>
              </a:rPr>
              <a:t>                                                                                                            PRIVACY PRINCIPLE</a:t>
            </a:r>
          </a:p>
          <a:p>
            <a:r>
              <a:rPr lang="en-IN" sz="1500" b="1" dirty="0">
                <a:latin typeface="Aptos" panose="020B0004020202020204" pitchFamily="34" charset="0"/>
              </a:rPr>
              <a:t>                                                                  A QR code is a pointer — not proof of identity or permission.</a:t>
            </a:r>
          </a:p>
          <a:p>
            <a:endParaRPr lang="en-IN" sz="15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05 / TRUST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10438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dirty="0"/>
              <a:t>Consent </a:t>
            </a:r>
            <a:r>
              <a:rPr lang="en-US" dirty="0"/>
              <a:t>I</a:t>
            </a:r>
            <a:r>
              <a:rPr dirty="0"/>
              <a:t>s</a:t>
            </a:r>
            <a:r>
              <a:rPr lang="en-US" dirty="0"/>
              <a:t> </a:t>
            </a:r>
            <a:r>
              <a:rPr lang="en-IN" sz="2800" b="1" dirty="0">
                <a:solidFill>
                  <a:srgbClr val="F5F9FF"/>
                </a:solidFill>
                <a:latin typeface="Aptos"/>
              </a:rPr>
              <a:t>Essential. Authorization Is Mandatory.</a:t>
            </a:r>
          </a:p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Consent expresses permission; identity verification and access control determine who can view a health record.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512976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48840"/>
            <a:ext cx="5120640" cy="34290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4526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800" b="1">
                <a:solidFill>
                  <a:srgbClr val="40DCA7"/>
                </a:solidFill>
                <a:latin typeface="Aptos"/>
              </a:defRPr>
            </a:pPr>
            <a:r>
              <a:rPr lang="en-IN" dirty="0"/>
              <a:t>CURRENT DEMO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4480560" cy="1836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Fictional </a:t>
            </a:r>
            <a:r>
              <a:rPr lang="en-US" dirty="0"/>
              <a:t>patient </a:t>
            </a:r>
            <a:r>
              <a:rPr dirty="0"/>
              <a:t>records only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US" dirty="0"/>
              <a:t>QR </a:t>
            </a:r>
            <a:r>
              <a:rPr dirty="0"/>
              <a:t>Token allowlist</a:t>
            </a:r>
            <a:r>
              <a:rPr lang="en-US" dirty="0"/>
              <a:t> for demo profiles</a:t>
            </a:r>
            <a:endParaRPr dirty="0"/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Consent checked before display</a:t>
            </a:r>
            <a:r>
              <a:rPr lang="en-US" dirty="0"/>
              <a:t>ing a profile</a:t>
            </a:r>
            <a:endParaRPr dirty="0"/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Clear </a:t>
            </a:r>
            <a:r>
              <a:rPr lang="en-US" dirty="0"/>
              <a:t>or reset </a:t>
            </a:r>
            <a:r>
              <a:rPr dirty="0"/>
              <a:t>action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Generic errors</a:t>
            </a:r>
            <a:r>
              <a:rPr lang="en-US" dirty="0"/>
              <a:t> messages without sensitive debug output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63640" y="2148840"/>
            <a:ext cx="5120640" cy="34290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2423160"/>
            <a:ext cx="4526280" cy="7360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FFB455"/>
                </a:solidFill>
                <a:latin typeface="Aptos"/>
              </a:defRPr>
            </a:pPr>
            <a:r>
              <a:rPr lang="en-IN" b="1" dirty="0">
                <a:solidFill>
                  <a:srgbClr val="FFB455"/>
                </a:solidFill>
                <a:latin typeface="Aptos"/>
              </a:rPr>
              <a:t>BEFORE REAL-WORLD DEPLOYMENT</a:t>
            </a:r>
          </a:p>
          <a:p>
            <a:pPr algn="l">
              <a:spcAft>
                <a:spcPts val="700"/>
              </a:spcAft>
              <a:defRPr sz="1800" b="1">
                <a:solidFill>
                  <a:srgbClr val="FFB455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537960" y="2971800"/>
            <a:ext cx="4480560" cy="1926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Verified identity and </a:t>
            </a:r>
            <a:r>
              <a:rPr lang="en-US" dirty="0"/>
              <a:t>appropriate user </a:t>
            </a:r>
            <a:r>
              <a:rPr dirty="0"/>
              <a:t>role</a:t>
            </a:r>
            <a:r>
              <a:rPr lang="en-US" dirty="0"/>
              <a:t>s</a:t>
            </a: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Server-side authorization for every record request</a:t>
            </a:r>
            <a:endParaRPr dirty="0"/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Clear, specific, time-limited consent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Enforced consent revocation and access expiry</a:t>
            </a:r>
          </a:p>
          <a:p>
            <a:pPr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500" dirty="0">
                <a:solidFill>
                  <a:srgbClr val="B4CAE4"/>
                </a:solidFill>
                <a:latin typeface="Aptos"/>
              </a:rPr>
              <a:t>Auditable access logs and secure data storage</a:t>
            </a:r>
          </a:p>
          <a:p>
            <a:pPr algn="l">
              <a:spcAft>
                <a:spcPts val="700"/>
              </a:spcAft>
              <a:defRPr sz="15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14400" y="5897880"/>
            <a:ext cx="10332720" cy="5693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b="1" dirty="0"/>
              <a:t>security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F6478"/>
                </a:solidFill>
                <a:latin typeface="Aptos"/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0" y="6511887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16" name="Rounded Rectangle 30">
            <a:extLst>
              <a:ext uri="{FF2B5EF4-FFF2-40B4-BE49-F238E27FC236}">
                <a16:creationId xmlns:a16="http://schemas.microsoft.com/office/drawing/2014/main" id="{8D6A57F3-189D-7B88-5E0A-F8FBFAA05069}"/>
              </a:ext>
            </a:extLst>
          </p:cNvPr>
          <p:cNvSpPr/>
          <p:nvPr/>
        </p:nvSpPr>
        <p:spPr>
          <a:xfrm>
            <a:off x="726948" y="5650002"/>
            <a:ext cx="11073384" cy="881532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500" dirty="0">
                <a:solidFill>
                  <a:schemeClr val="accent6"/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</a:t>
            </a:r>
            <a:r>
              <a:rPr lang="en-IN" sz="150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NON-NEGOTIABLE TRUST PRINCIPLE</a:t>
            </a:r>
          </a:p>
          <a:p>
            <a:r>
              <a:rPr lang="en-IN" sz="1500" b="1" dirty="0">
                <a:solidFill>
                  <a:schemeClr val="accent6"/>
                </a:solidFill>
                <a:latin typeface="Aptos" panose="020B0004020202020204" pitchFamily="34" charset="0"/>
              </a:rPr>
              <a:t>                                              </a:t>
            </a:r>
            <a:r>
              <a:rPr lang="en-IN" sz="1500" b="1" dirty="0">
                <a:solidFill>
                  <a:schemeClr val="bg2"/>
                </a:solidFill>
                <a:latin typeface="Aptos" panose="020B0004020202020204" pitchFamily="34" charset="0"/>
              </a:rPr>
              <a:t>A QR code or consent checkbox alone does not provide production-grade healthcare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06 / PREMIUM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t>A clinical-tech look: calm, sharp, and readable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t>Navy surfaces + electric blue accents + clear information cards.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6812280" cy="3886200"/>
          </a:xfrm>
          <a:prstGeom prst="roundRect">
            <a:avLst/>
          </a:prstGeom>
          <a:solidFill>
            <a:srgbClr val="0A1F3D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HEALTHLENS AI  /  DEMO MODE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621792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2200" b="1">
                <a:solidFill>
                  <a:srgbClr val="F5F9FF"/>
                </a:solidFill>
                <a:latin typeface="Aptos"/>
              </a:defRPr>
            </a:pPr>
            <a:r>
              <a:t>Health profile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291840"/>
            <a:ext cx="1737360" cy="777240"/>
          </a:xfrm>
          <a:prstGeom prst="roundRect">
            <a:avLst/>
          </a:prstGeom>
          <a:solidFill>
            <a:srgbClr val="0F2A4E"/>
          </a:solidFill>
          <a:ln>
            <a:solidFill>
              <a:srgbClr val="28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01568"/>
            <a:ext cx="15544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rPr sz="1200" dirty="0"/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675887"/>
            <a:ext cx="15544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0DCA7"/>
                </a:solidFill>
                <a:latin typeface="Aptos"/>
              </a:defRPr>
            </a:pPr>
            <a:r>
              <a:rPr sz="1400" dirty="0"/>
              <a:t>Synthetic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291840"/>
            <a:ext cx="1737360" cy="777240"/>
          </a:xfrm>
          <a:prstGeom prst="roundRect">
            <a:avLst/>
          </a:prstGeom>
          <a:solidFill>
            <a:srgbClr val="0F2A4E"/>
          </a:solidFill>
          <a:ln>
            <a:solidFill>
              <a:srgbClr val="28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3401568"/>
            <a:ext cx="15544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rPr sz="1200" dirty="0"/>
              <a:t>CONSENT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675887"/>
            <a:ext cx="15544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0DCA7"/>
                </a:solidFill>
                <a:latin typeface="Aptos"/>
              </a:defRPr>
            </a:pPr>
            <a:r>
              <a:rPr sz="1400" dirty="0"/>
              <a:t>Confirmed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291840"/>
            <a:ext cx="1737360" cy="777240"/>
          </a:xfrm>
          <a:prstGeom prst="roundRect">
            <a:avLst/>
          </a:prstGeom>
          <a:solidFill>
            <a:srgbClr val="0F2A4E"/>
          </a:solidFill>
          <a:ln>
            <a:solidFill>
              <a:srgbClr val="28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83479" y="3401568"/>
            <a:ext cx="155448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rPr sz="1200" dirty="0"/>
              <a:t>QR STATUS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79" y="3675887"/>
            <a:ext cx="15544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300" b="1">
                <a:solidFill>
                  <a:srgbClr val="40DCA7"/>
                </a:solidFill>
                <a:latin typeface="Aptos"/>
              </a:defRPr>
            </a:pPr>
            <a:r>
              <a:rPr sz="1400" dirty="0"/>
              <a:t>Validated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4343400"/>
            <a:ext cx="6080760" cy="1051560"/>
          </a:xfrm>
          <a:prstGeom prst="roundRect">
            <a:avLst/>
          </a:prstGeom>
          <a:solidFill>
            <a:srgbClr val="0F2A4E"/>
          </a:solidFill>
          <a:ln>
            <a:solidFill>
              <a:srgbClr val="2858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43000" y="4498848"/>
            <a:ext cx="5669280" cy="5360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4BDCFF"/>
                </a:solidFill>
                <a:latin typeface="Aptos"/>
              </a:defRPr>
            </a:pPr>
            <a:r>
              <a:rPr lang="en-US" sz="1200" dirty="0"/>
              <a:t>INFORMATION </a:t>
            </a:r>
            <a:r>
              <a:rPr sz="1200" dirty="0"/>
              <a:t>SUMMARY</a:t>
            </a:r>
            <a:endParaRPr lang="en-US" sz="1200" dirty="0"/>
          </a:p>
          <a:p>
            <a:pPr algn="l">
              <a:spcAft>
                <a:spcPts val="700"/>
              </a:spcAft>
              <a:defRPr sz="1100" b="1">
                <a:solidFill>
                  <a:srgbClr val="4BDCFF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1143000" y="4966077"/>
            <a:ext cx="557784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F5F9FF"/>
                </a:solidFill>
                <a:latin typeface="Aptos"/>
              </a:defRPr>
            </a:pPr>
            <a:r>
              <a:rPr lang="en-IN" sz="1100" dirty="0">
                <a:solidFill>
                  <a:srgbClr val="F5F9FF"/>
                </a:solidFill>
                <a:latin typeface="Aptos"/>
              </a:rPr>
              <a:t>Human review required. This demo does not diagnose diseases.</a:t>
            </a:r>
            <a:endParaRPr sz="1100" dirty="0"/>
          </a:p>
        </p:txBody>
      </p:sp>
      <p:sp>
        <p:nvSpPr>
          <p:cNvPr id="22" name="Rounded Rectangle 21"/>
          <p:cNvSpPr/>
          <p:nvPr/>
        </p:nvSpPr>
        <p:spPr>
          <a:xfrm>
            <a:off x="7863840" y="2011680"/>
            <a:ext cx="3611880" cy="388620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863840" y="2011680"/>
            <a:ext cx="64008" cy="3886200"/>
          </a:xfrm>
          <a:prstGeom prst="rect">
            <a:avLst/>
          </a:prstGeom>
          <a:solidFill>
            <a:srgbClr val="4B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65008" y="2167128"/>
            <a:ext cx="324612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dirty="0"/>
              <a:t>DESIGN </a:t>
            </a:r>
            <a:r>
              <a:rPr lang="en-US" dirty="0"/>
              <a:t>PRINCIPLES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8065008" y="2578608"/>
            <a:ext cx="3227832" cy="1528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One primary action per step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Readable labels and </a:t>
            </a:r>
            <a:r>
              <a:rPr lang="en-US" dirty="0"/>
              <a:t>strong </a:t>
            </a:r>
            <a:r>
              <a:rPr dirty="0"/>
              <a:t>contrast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Consistent spacing and card</a:t>
            </a:r>
            <a:r>
              <a:rPr lang="en-US" dirty="0"/>
              <a:t> style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Loading, success, warning, error states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Mobile-first responsive layout</a:t>
            </a:r>
          </a:p>
        </p:txBody>
      </p:sp>
      <p:pic>
        <p:nvPicPr>
          <p:cNvPr id="26" name="Picture 25" descr="healthlen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389120"/>
            <a:ext cx="1554480" cy="9144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3F500A-7475-59CB-08D9-2DC44D4E91E8}"/>
              </a:ext>
            </a:extLst>
          </p:cNvPr>
          <p:cNvSpPr txBox="1"/>
          <p:nvPr/>
        </p:nvSpPr>
        <p:spPr>
          <a:xfrm>
            <a:off x="1005841" y="4689987"/>
            <a:ext cx="2720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  <a:latin typeface="Aptos" panose="020B0004020202020204" pitchFamily="34" charset="0"/>
              </a:rPr>
              <a:t>  </a:t>
            </a:r>
            <a:r>
              <a:rPr lang="en-IN" sz="1200" b="1" dirty="0">
                <a:solidFill>
                  <a:schemeClr val="bg2"/>
                </a:solidFill>
                <a:latin typeface="Aptos" panose="020B0004020202020204" pitchFamily="34" charset="0"/>
              </a:rPr>
              <a:t>Reported information</a:t>
            </a:r>
          </a:p>
        </p:txBody>
      </p:sp>
      <p:sp>
        <p:nvSpPr>
          <p:cNvPr id="30" name="Rounded Rectangle 30">
            <a:extLst>
              <a:ext uri="{FF2B5EF4-FFF2-40B4-BE49-F238E27FC236}">
                <a16:creationId xmlns:a16="http://schemas.microsoft.com/office/drawing/2014/main" id="{39A51C48-F060-8BD4-7EA0-B1C28AF2B1CD}"/>
              </a:ext>
            </a:extLst>
          </p:cNvPr>
          <p:cNvSpPr/>
          <p:nvPr/>
        </p:nvSpPr>
        <p:spPr>
          <a:xfrm>
            <a:off x="649322" y="6007608"/>
            <a:ext cx="11073384" cy="448056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rgbClr val="00B050"/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               DESIGN GOAL</a:t>
            </a:r>
          </a:p>
          <a:p>
            <a:r>
              <a:rPr lang="en-IN" sz="1200" b="1" dirty="0">
                <a:latin typeface="Aptos" panose="020B0004020202020204" pitchFamily="34" charset="0"/>
              </a:rPr>
              <a:t>                                                                               Make essential health information easy to understand without overstating what the system knows</a:t>
            </a:r>
            <a:r>
              <a:rPr lang="en-IN" sz="1200" b="1"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07 / RESPONSIBLE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10438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AI With Transparency. Healthcare With Trust</a:t>
            </a:r>
          </a:p>
          <a:p>
            <a:pPr algn="l"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Clearly distinguish demonstrated capabilities from future AI features and unvalidated medical claims.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166360" cy="333756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48840"/>
            <a:ext cx="64008" cy="3337560"/>
          </a:xfrm>
          <a:prstGeom prst="rect">
            <a:avLst/>
          </a:prstGeom>
          <a:solidFill>
            <a:srgbClr val="40D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480060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lang="en-IN" sz="1700" b="1" dirty="0">
                <a:solidFill>
                  <a:srgbClr val="F5F9FF"/>
                </a:solidFill>
                <a:latin typeface="Aptos"/>
              </a:rPr>
              <a:t>WHAT HEALTHLENS AI DOES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32688" y="2715768"/>
            <a:ext cx="4782312" cy="184665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lvl="0"/>
            <a:r>
              <a:rPr lang="en-US" sz="1600" dirty="0">
                <a:solidFill>
                  <a:schemeClr val="bg2"/>
                </a:solidFill>
                <a:latin typeface="Aptos" panose="020B0004020202020204" pitchFamily="34" charset="0"/>
              </a:rPr>
              <a:t>•</a:t>
            </a:r>
            <a:r>
              <a:rPr lang="en-US" dirty="0"/>
              <a:t> </a:t>
            </a:r>
            <a:r>
              <a:rPr lang="en-IN" sz="1600" dirty="0">
                <a:solidFill>
                  <a:schemeClr val="bg2"/>
                </a:solidFill>
                <a:latin typeface="Aptos" panose="020B0004020202020204" pitchFamily="34" charset="0"/>
              </a:rPr>
              <a:t>Retrieves QR-linked synthetic health profiles.</a:t>
            </a:r>
          </a:p>
          <a:p>
            <a:pPr lvl="0"/>
            <a:r>
              <a:rPr lang="en-US" sz="1600" dirty="0">
                <a:solidFill>
                  <a:schemeClr val="bg2"/>
                </a:solidFill>
                <a:latin typeface="Aptos" panose="020B0004020202020204" pitchFamily="34" charset="0"/>
              </a:rPr>
              <a:t>• </a:t>
            </a:r>
            <a:r>
              <a:rPr lang="en-IN" sz="1600" dirty="0">
                <a:solidFill>
                  <a:schemeClr val="bg2"/>
                </a:solidFill>
                <a:latin typeface="Aptos" panose="020B0004020202020204" pitchFamily="34" charset="0"/>
              </a:rPr>
              <a:t>Presents profile information in a clear format.</a:t>
            </a:r>
          </a:p>
          <a:p>
            <a:pPr lvl="0"/>
            <a:r>
              <a:rPr lang="en-US" sz="1600" dirty="0">
                <a:solidFill>
                  <a:schemeClr val="bg2"/>
                </a:solidFill>
                <a:latin typeface="Aptos" panose="020B0004020202020204" pitchFamily="34" charset="0"/>
              </a:rPr>
              <a:t>• </a:t>
            </a:r>
            <a:r>
              <a:rPr lang="en-IN" sz="1600" dirty="0">
                <a:solidFill>
                  <a:schemeClr val="bg2"/>
                </a:solidFill>
                <a:latin typeface="Aptos" panose="020B0004020202020204" pitchFamily="34" charset="0"/>
              </a:rPr>
              <a:t>Generates rule-based summaries, if implemented.</a:t>
            </a:r>
          </a:p>
          <a:p>
            <a:pPr lvl="0"/>
            <a:r>
              <a:rPr lang="en-US" sz="1600" dirty="0">
                <a:solidFill>
                  <a:schemeClr val="bg2"/>
                </a:solidFill>
                <a:latin typeface="Aptos" panose="020B0004020202020204" pitchFamily="34" charset="0"/>
              </a:rPr>
              <a:t>• </a:t>
            </a:r>
            <a:r>
              <a:rPr lang="en-IN" sz="1600" dirty="0">
                <a:solidFill>
                  <a:schemeClr val="bg2"/>
                </a:solidFill>
                <a:latin typeface="Aptos" panose="020B0004020202020204" pitchFamily="34" charset="0"/>
              </a:rPr>
              <a:t>Supports human review of displayed information.</a:t>
            </a:r>
          </a:p>
          <a:p>
            <a:pPr lvl="0"/>
            <a:r>
              <a:rPr lang="en-US" sz="1600" dirty="0">
                <a:solidFill>
                  <a:schemeClr val="bg2"/>
                </a:solidFill>
                <a:latin typeface="Aptos" panose="020B0004020202020204" pitchFamily="34" charset="0"/>
              </a:rPr>
              <a:t>• </a:t>
            </a:r>
            <a:r>
              <a:rPr lang="en-IN" sz="1600" dirty="0">
                <a:solidFill>
                  <a:schemeClr val="bg2"/>
                </a:solidFill>
                <a:latin typeface="Aptos" panose="020B0004020202020204" pitchFamily="34" charset="0"/>
              </a:rPr>
              <a:t>Demonstrates a privacy-conscious healthcare workflow.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166360" cy="333756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148840"/>
            <a:ext cx="64008" cy="3337560"/>
          </a:xfrm>
          <a:prstGeom prst="rect">
            <a:avLst/>
          </a:prstGeom>
          <a:solidFill>
            <a:srgbClr val="FF64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304288"/>
            <a:ext cx="480060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lang="en-IN" sz="1700" b="1" dirty="0">
                <a:solidFill>
                  <a:srgbClr val="F5F9FF"/>
                </a:solidFill>
                <a:latin typeface="Aptos"/>
              </a:rPr>
              <a:t>WHAT IT DOES NOT CLAIM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464807" y="2715768"/>
            <a:ext cx="4782312" cy="25109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Disease detection from a QR code</a:t>
            </a:r>
          </a:p>
          <a:p>
            <a:pPr algn="l"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Clinical accuracy without validation</a:t>
            </a:r>
          </a:p>
          <a:p>
            <a:pPr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600" dirty="0">
                <a:solidFill>
                  <a:srgbClr val="B4CAE4"/>
                </a:solidFill>
                <a:latin typeface="Aptos"/>
              </a:rPr>
              <a:t> Live hospital-record integration unless implemented</a:t>
            </a:r>
            <a:r>
              <a:rPr dirty="0"/>
              <a:t> </a:t>
            </a:r>
            <a:endParaRPr lang="en-US" dirty="0"/>
          </a:p>
          <a:p>
            <a:pPr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600" dirty="0">
                <a:solidFill>
                  <a:srgbClr val="B4CAE4"/>
                </a:solidFill>
                <a:latin typeface="Aptos"/>
              </a:rPr>
              <a:t> Treatment recommendations or autonomous medical decisions.</a:t>
            </a:r>
            <a:endParaRPr lang="en-US" dirty="0"/>
          </a:p>
          <a:p>
            <a:pPr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sz="1600" dirty="0">
                <a:solidFill>
                  <a:srgbClr val="B4CAE4"/>
                </a:solidFill>
                <a:latin typeface="Aptos"/>
              </a:rPr>
              <a:t> Proven clinical accuracy without </a:t>
            </a:r>
          </a:p>
          <a:p>
            <a:pPr>
              <a:spcAft>
                <a:spcPts val="700"/>
              </a:spcAft>
              <a:defRPr sz="1600" b="0">
                <a:solidFill>
                  <a:srgbClr val="B4CAE4"/>
                </a:solidFill>
                <a:latin typeface="Aptos"/>
              </a:defRPr>
            </a:pPr>
            <a:r>
              <a:rPr lang="en-IN" sz="1600" dirty="0">
                <a:solidFill>
                  <a:srgbClr val="B4CAE4"/>
                </a:solidFill>
                <a:latin typeface="Aptos"/>
              </a:rPr>
              <a:t>proper evaluation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14400" y="5852160"/>
            <a:ext cx="102412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                                                                                               </a:t>
            </a:r>
            <a:endParaRPr dirty="0"/>
          </a:p>
        </p:txBody>
      </p:sp>
      <p:pic>
        <p:nvPicPr>
          <p:cNvPr id="16" name="Picture 15" descr="healthlen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4389120"/>
            <a:ext cx="1554480" cy="914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20" name="Rounded Rectangle 30">
            <a:extLst>
              <a:ext uri="{FF2B5EF4-FFF2-40B4-BE49-F238E27FC236}">
                <a16:creationId xmlns:a16="http://schemas.microsoft.com/office/drawing/2014/main" id="{62257B6B-4148-F443-79FD-0DA2E2566F61}"/>
              </a:ext>
            </a:extLst>
          </p:cNvPr>
          <p:cNvSpPr/>
          <p:nvPr/>
        </p:nvSpPr>
        <p:spPr>
          <a:xfrm>
            <a:off x="687865" y="5805836"/>
            <a:ext cx="11073384" cy="589675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rgbClr val="00B050"/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               </a:t>
            </a:r>
            <a:endParaRPr lang="en-IN" sz="12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F7C3CE5-407D-7CBA-AED9-2CC9AE36BB40}"/>
              </a:ext>
            </a:extLst>
          </p:cNvPr>
          <p:cNvSpPr txBox="1"/>
          <p:nvPr/>
        </p:nvSpPr>
        <p:spPr>
          <a:xfrm>
            <a:off x="914400" y="5852160"/>
            <a:ext cx="10241280" cy="815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                                                                                               </a:t>
            </a:r>
            <a:r>
              <a:rPr lang="en-IN" sz="1600" dirty="0">
                <a:solidFill>
                  <a:schemeClr val="bg2">
                    <a:lumMod val="50000"/>
                  </a:schemeClr>
                </a:solidFill>
                <a:latin typeface="Aptos" panose="020B0004020202020204" pitchFamily="34" charset="0"/>
              </a:rPr>
              <a:t>OUR AI PRINCIPLE</a:t>
            </a:r>
          </a:p>
          <a:p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                                 </a:t>
            </a:r>
            <a:r>
              <a:rPr lang="en-IN" sz="1600" b="1" dirty="0">
                <a:solidFill>
                  <a:schemeClr val="bg2"/>
                </a:solidFill>
                <a:latin typeface="Aptos" panose="020B0004020202020204" pitchFamily="34" charset="0"/>
              </a:rPr>
              <a:t>Make health information easier to understand—not pretend to replace a clinician.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4BDCFF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rPr dirty="0"/>
              <a:t>08 /</a:t>
            </a:r>
            <a:r>
              <a:rPr lang="en-US" dirty="0"/>
              <a:t>IMPLEMENTATION ROADMAP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From Prototype to Secure Pilot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Improve reliability first, verify every change, and introduce real health data only after security and privacy requirements are met.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3429000" cy="338328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32688" y="2423160"/>
            <a:ext cx="114300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40D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46430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0DCA7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07792"/>
            <a:ext cx="292608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9FF"/>
                </a:solidFill>
                <a:latin typeface="Aptos"/>
              </a:defRPr>
            </a:pPr>
            <a:r>
              <a:t>HARDEN THE MVP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0440"/>
            <a:ext cx="2971800" cy="156196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Validate QR inputs and uploaded images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Improve consent and profile-reset behaviour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Add clear error messages and recovery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Refine mobile layout and accessibility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3429000" cy="338328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773168" y="2423160"/>
            <a:ext cx="114300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18888" y="246430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2599FF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907792"/>
            <a:ext cx="2926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600" b="1">
                <a:solidFill>
                  <a:srgbClr val="F5F9FF"/>
                </a:solidFill>
                <a:latin typeface="Aptos"/>
              </a:defRPr>
            </a:pPr>
            <a:r>
              <a:rPr dirty="0"/>
              <a:t>TEST &amp; </a:t>
            </a:r>
            <a:r>
              <a:rPr lang="en-US" dirty="0"/>
              <a:t>VERIFY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773168" y="3520440"/>
            <a:ext cx="2971800" cy="17620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Test valid, invalid, and unreadable QR codes</a:t>
            </a:r>
            <a:endParaRPr dirty="0"/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Check mobile browsers and session resets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Verify privacy behaviour and error handling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 R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ecord test results and fix defects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412480" y="2194560"/>
            <a:ext cx="3429000" cy="338328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13648" y="2423160"/>
            <a:ext cx="1143000" cy="320040"/>
          </a:xfrm>
          <a:prstGeom prst="roundRect">
            <a:avLst/>
          </a:prstGeom>
          <a:solidFill>
            <a:srgbClr val="0F2A4E"/>
          </a:solidFill>
          <a:ln>
            <a:solidFill>
              <a:srgbClr val="FFB4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59368" y="2464308"/>
            <a:ext cx="1051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FFB455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07792"/>
            <a:ext cx="29260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F5F9FF"/>
                </a:solidFill>
                <a:latin typeface="Aptos"/>
              </a:defRPr>
            </a:pPr>
            <a:r>
              <a:rPr lang="en-IN" sz="1600" b="1" dirty="0">
                <a:solidFill>
                  <a:srgbClr val="F5F9FF"/>
                </a:solidFill>
                <a:latin typeface="Aptos"/>
              </a:rPr>
              <a:t>PLAN A SECURE PILOT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613648" y="3520440"/>
            <a:ext cx="2971800" cy="19620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Design identity verification and record-level authorization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Define consent expiry, revocation, and audit logging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Complete privacy, security, and legal reviews</a:t>
            </a:r>
          </a:p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Plan clinical workflow validation with qualified professionals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914400" y="5897880"/>
            <a:ext cx="1024128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        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sp>
        <p:nvSpPr>
          <p:cNvPr id="25" name="Rounded Rectangle 30">
            <a:extLst>
              <a:ext uri="{FF2B5EF4-FFF2-40B4-BE49-F238E27FC236}">
                <a16:creationId xmlns:a16="http://schemas.microsoft.com/office/drawing/2014/main" id="{CCFC5D94-50C7-B622-9C93-9666D954C5BF}"/>
              </a:ext>
            </a:extLst>
          </p:cNvPr>
          <p:cNvSpPr/>
          <p:nvPr/>
        </p:nvSpPr>
        <p:spPr>
          <a:xfrm>
            <a:off x="621792" y="5764278"/>
            <a:ext cx="11073384" cy="589675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600" dirty="0">
                <a:solidFill>
                  <a:srgbClr val="00B050"/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               </a:t>
            </a:r>
            <a:endParaRPr lang="en-IN" sz="12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9A3EC3-BC1B-C12E-6B55-1B45F136F117}"/>
              </a:ext>
            </a:extLst>
          </p:cNvPr>
          <p:cNvSpPr txBox="1"/>
          <p:nvPr/>
        </p:nvSpPr>
        <p:spPr>
          <a:xfrm>
            <a:off x="960120" y="5742432"/>
            <a:ext cx="10241280" cy="78483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dirty="0">
                <a:solidFill>
                  <a:schemeClr val="accent2">
                    <a:lumMod val="75000"/>
                  </a:schemeClr>
                </a:solidFill>
                <a:latin typeface="Aptos" panose="020B0004020202020204" pitchFamily="34" charset="0"/>
              </a:rPr>
              <a:t>                                                                                                              </a:t>
            </a:r>
            <a:r>
              <a:rPr lang="en-IN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SAFETY GATE</a:t>
            </a:r>
          </a:p>
          <a:p>
            <a:r>
              <a:rPr lang="en-IN" sz="1600" b="1" dirty="0">
                <a:solidFill>
                  <a:schemeClr val="bg2"/>
                </a:solidFill>
                <a:latin typeface="Aptos" panose="020B0004020202020204" pitchFamily="34" charset="0"/>
              </a:rPr>
              <a:t>         No real patient records until security, privacy, authorization, and governance requirements are reviewed</a:t>
            </a:r>
          </a:p>
          <a:p>
            <a:pPr algn="ctr">
              <a:spcAft>
                <a:spcPts val="700"/>
              </a:spcAft>
              <a:defRPr sz="1300" b="1">
                <a:solidFill>
                  <a:srgbClr val="FF6478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09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Prove It Works. Verify It Is Safe.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58221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A structured pre-demo checklist for functionality, privacy, accessibility, and responsible AI claims.</a:t>
            </a:r>
          </a:p>
          <a:p>
            <a:pPr algn="l"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78540" y="6591034"/>
            <a:ext cx="502920" cy="2308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rPr dirty="0"/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166360" cy="361188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64008" cy="361188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480060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rPr dirty="0"/>
              <a:t>FUNCTIONAL</a:t>
            </a:r>
            <a:r>
              <a:rPr lang="en-US" dirty="0"/>
              <a:t> TESTS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4782312" cy="1528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Valid demo QR retrieves correct fictional profile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Unknown token is rejected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Blurry </a:t>
            </a:r>
            <a:r>
              <a:rPr lang="en-US" dirty="0"/>
              <a:t>or</a:t>
            </a:r>
            <a:r>
              <a:rPr dirty="0"/>
              <a:t> corrupt image gives recovery message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Consent off blocks profile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 Clear </a:t>
            </a:r>
            <a:r>
              <a:rPr lang="en-US" dirty="0"/>
              <a:t>or</a:t>
            </a:r>
            <a:r>
              <a:rPr dirty="0"/>
              <a:t> revoke hides prior profile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11680"/>
            <a:ext cx="5166360" cy="3611880"/>
          </a:xfrm>
          <a:prstGeom prst="roundRect">
            <a:avLst/>
          </a:prstGeom>
          <a:solidFill>
            <a:srgbClr val="0F2A4E"/>
          </a:solidFill>
          <a:ln>
            <a:solidFill>
              <a:srgbClr val="234A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2011680"/>
            <a:ext cx="64008" cy="3611880"/>
          </a:xfrm>
          <a:prstGeom prst="rect">
            <a:avLst/>
          </a:prstGeom>
          <a:solidFill>
            <a:srgbClr val="40DC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7" y="2167128"/>
            <a:ext cx="4800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F5F9FF"/>
                </a:solidFill>
                <a:latin typeface="Aptos"/>
              </a:defRPr>
            </a:pPr>
            <a:r>
              <a:t>PRIVACY &amp;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2578608"/>
            <a:ext cx="4782312" cy="183383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Synthetic data only; no real patient records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No API keys or secrets committed to the repository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Mobile and desktop layouts checked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AI capabilities and limitations labelled accurately</a:t>
            </a: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Safety disclaimer visible</a:t>
            </a:r>
          </a:p>
          <a:p>
            <a:pPr>
              <a:spcAft>
                <a:spcPts val="700"/>
              </a:spcAft>
              <a:defRPr sz="1400" b="0">
                <a:solidFill>
                  <a:srgbClr val="B4CAE4"/>
                </a:solidFill>
                <a:latin typeface="Aptos"/>
              </a:defRPr>
            </a:pPr>
            <a:r>
              <a:rPr lang="en-IN" dirty="0"/>
              <a:t>•</a:t>
            </a:r>
            <a:r>
              <a:rPr lang="en-IN" sz="1400" dirty="0">
                <a:solidFill>
                  <a:srgbClr val="B4CAE4"/>
                </a:solidFill>
                <a:latin typeface="Aptos"/>
              </a:rPr>
              <a:t> Error messages do not expose sensitive details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932688" y="5700610"/>
            <a:ext cx="10570464" cy="923544"/>
          </a:xfrm>
          <a:prstGeom prst="roundRect">
            <a:avLst/>
          </a:prstGeom>
          <a:solidFill>
            <a:srgbClr val="0F2A4E"/>
          </a:solidFill>
          <a:ln>
            <a:solidFill>
              <a:srgbClr val="40D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09106" y="5778302"/>
            <a:ext cx="7177547" cy="8925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IN" sz="1600" dirty="0">
                <a:latin typeface="Aptos" panose="020B0004020202020204" pitchFamily="34" charset="0"/>
              </a:rPr>
              <a:t>                                     </a:t>
            </a:r>
            <a:r>
              <a:rPr lang="en-IN" sz="1600" dirty="0">
                <a:solidFill>
                  <a:srgbClr val="00B050"/>
                </a:solidFill>
                <a:latin typeface="Aptos" panose="020B0004020202020204" pitchFamily="34" charset="0"/>
              </a:rPr>
              <a:t>DEMO ACCEPTANCE CRITERION</a:t>
            </a:r>
          </a:p>
          <a:p>
            <a:pPr algn="ctr"/>
            <a:r>
              <a:rPr lang="en-IN" sz="1600" b="1" dirty="0">
                <a:solidFill>
                  <a:schemeClr val="bg2"/>
                </a:solidFill>
                <a:latin typeface="Aptos" panose="020B0004020202020204" pitchFamily="34" charset="0"/>
              </a:rPr>
              <a:t>                  Every defined test has a recorded result, and no unresolved critical                                issue remains</a:t>
            </a:r>
          </a:p>
          <a:p>
            <a:pPr algn="ctr">
              <a:spcAft>
                <a:spcPts val="700"/>
              </a:spcAft>
              <a:defRPr sz="1000" b="1">
                <a:solidFill>
                  <a:srgbClr val="40DCA7"/>
                </a:solidFill>
                <a:latin typeface="Aptos"/>
              </a:defRPr>
            </a:pP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8298180" y="6624154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rPr dirty="0"/>
              <a:t>Illustrative visuals • Synthetic demo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881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rPr dirty="0"/>
              <a:t>10 / EVALUATION</a:t>
            </a:r>
            <a:r>
              <a:rPr lang="en-US" dirty="0"/>
              <a:t> &amp; IMPACT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Define Success. Measure It. Prove It.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243584"/>
            <a:ext cx="108813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B4CAE4"/>
                </a:solidFill>
                <a:latin typeface="Aptos"/>
              </a:defRPr>
            </a:pPr>
            <a:r>
              <a:rPr lang="en-IN" sz="1300" dirty="0">
                <a:solidFill>
                  <a:srgbClr val="B4CAE4"/>
                </a:solidFill>
                <a:latin typeface="Aptos"/>
              </a:rPr>
              <a:t>Proposed acceptance criteria for reliability, usability, consent, and data protection in the </a:t>
            </a:r>
            <a:r>
              <a:rPr lang="en-IN" sz="1300" dirty="0" err="1">
                <a:solidFill>
                  <a:srgbClr val="B4CAE4"/>
                </a:solidFill>
                <a:latin typeface="Aptos"/>
              </a:rPr>
              <a:t>HealthLens</a:t>
            </a:r>
            <a:r>
              <a:rPr lang="en-IN" sz="1300" dirty="0">
                <a:solidFill>
                  <a:srgbClr val="B4CAE4"/>
                </a:solidFill>
                <a:latin typeface="Aptos"/>
              </a:rPr>
              <a:t> AI prototype.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621792" y="1719072"/>
            <a:ext cx="960120" cy="45720"/>
          </a:xfrm>
          <a:prstGeom prst="rect">
            <a:avLst/>
          </a:prstGeom>
          <a:solidFill>
            <a:srgbClr val="2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2560320" cy="16002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24912"/>
            <a:ext cx="2286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40DCA7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9FF"/>
                </a:solidFill>
                <a:latin typeface="Aptos"/>
              </a:defRPr>
            </a:pPr>
            <a:r>
              <a:t>Known test cases end safely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468880"/>
            <a:ext cx="2560320" cy="16002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03320" y="2724912"/>
            <a:ext cx="2286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4BDCFF"/>
                </a:solidFill>
                <a:latin typeface="Aptos"/>
              </a:defRPr>
            </a:pPr>
            <a:r>
              <a:t>&lt; 2 taps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3429000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9FF"/>
                </a:solidFill>
                <a:latin typeface="Aptos"/>
              </a:defRPr>
            </a:pPr>
            <a:r>
              <a:t>Clear / revoke path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468880"/>
            <a:ext cx="2560320" cy="16002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724912"/>
            <a:ext cx="2286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FFB455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29000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9FF"/>
                </a:solidFill>
                <a:latin typeface="Aptos"/>
              </a:defRPr>
            </a:pPr>
            <a:r>
              <a:t>Real patient records in 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468880"/>
            <a:ext cx="2560320" cy="1600200"/>
          </a:xfrm>
          <a:prstGeom prst="roundRect">
            <a:avLst/>
          </a:prstGeom>
          <a:solidFill>
            <a:srgbClr val="0F2A4E"/>
          </a:solidFill>
          <a:ln>
            <a:solidFill>
              <a:srgbClr val="265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64040" y="2724912"/>
            <a:ext cx="22860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2700" b="1">
                <a:solidFill>
                  <a:srgbClr val="2599FF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64040" y="3429000"/>
            <a:ext cx="22860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100" b="1">
                <a:solidFill>
                  <a:srgbClr val="F5F9FF"/>
                </a:solidFill>
                <a:latin typeface="Aptos"/>
              </a:defRPr>
            </a:pPr>
            <a:r>
              <a:t>Consent-negative tests blocked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709160"/>
            <a:ext cx="10149840" cy="822960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8720" y="4782312"/>
            <a:ext cx="9692640" cy="815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IN" sz="1600" dirty="0">
                <a:solidFill>
                  <a:srgbClr val="00B050"/>
                </a:solidFill>
                <a:latin typeface="Aptos" panose="020B0004020202020204" pitchFamily="34" charset="0"/>
              </a:rPr>
              <a:t>                                                                                   EVIDENCE OVER CLAIMS</a:t>
            </a:r>
          </a:p>
          <a:p>
            <a:r>
              <a:rPr lang="en-IN" sz="1600" b="1" dirty="0">
                <a:solidFill>
                  <a:schemeClr val="bg2"/>
                </a:solidFill>
                <a:latin typeface="Aptos" panose="020B0004020202020204" pitchFamily="34" charset="0"/>
              </a:rPr>
              <a:t>                                       Targets are proposed. Report actual results only after testing</a:t>
            </a:r>
            <a:r>
              <a:rPr lang="en-IN" sz="1600" b="1" dirty="0">
                <a:latin typeface="Aptos" panose="020B0004020202020204" pitchFamily="34" charset="0"/>
              </a:rPr>
              <a:t>.</a:t>
            </a:r>
          </a:p>
          <a:p>
            <a:pPr algn="ctr">
              <a:spcAft>
                <a:spcPts val="700"/>
              </a:spcAft>
              <a:defRPr sz="1500" b="1">
                <a:solidFill>
                  <a:srgbClr val="F5F9FF"/>
                </a:solidFill>
                <a:latin typeface="Aptos"/>
              </a:defRPr>
            </a:pP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0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561" y="703474"/>
            <a:ext cx="640080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700"/>
              </a:spcAft>
              <a:defRPr sz="1100" b="1">
                <a:solidFill>
                  <a:srgbClr val="4BDCFF"/>
                </a:solidFill>
                <a:latin typeface="Aptos"/>
              </a:defRPr>
            </a:pPr>
            <a:r>
              <a:rPr dirty="0"/>
              <a:t>HEALTHLENS AI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1" y="1026021"/>
            <a:ext cx="777240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3000" b="1">
                <a:solidFill>
                  <a:srgbClr val="F5F9FF"/>
                </a:solidFill>
                <a:latin typeface="Aptos"/>
              </a:defRPr>
            </a:pPr>
            <a:r>
              <a:rPr lang="en-IN" sz="2800" b="1" dirty="0">
                <a:solidFill>
                  <a:srgbClr val="F5F9FF"/>
                </a:solidFill>
                <a:latin typeface="Aptos"/>
              </a:rPr>
              <a:t>Smarter Access. Safer Health Information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6583680" cy="61555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B4CAE4"/>
                </a:solidFill>
                <a:latin typeface="Aptos"/>
              </a:defRPr>
            </a:pPr>
            <a:r>
              <a:rPr lang="en-IN" sz="1700" dirty="0">
                <a:solidFill>
                  <a:srgbClr val="B4CAE4"/>
                </a:solidFill>
                <a:latin typeface="Aptos"/>
              </a:rPr>
              <a:t>A QR-based health information access prototype designed around privacy, consent, and responsible technology.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8046720" y="1005840"/>
            <a:ext cx="3108960" cy="3108960"/>
          </a:xfrm>
          <a:prstGeom prst="roundRect">
            <a:avLst/>
          </a:prstGeom>
          <a:solidFill>
            <a:srgbClr val="0A1F3D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49640" y="1508760"/>
            <a:ext cx="2103120" cy="2103120"/>
          </a:xfrm>
          <a:prstGeom prst="roundRect">
            <a:avLst/>
          </a:prstGeom>
          <a:solidFill>
            <a:srgbClr val="0F2A4E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2057400"/>
            <a:ext cx="1828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4000" b="1">
                <a:solidFill>
                  <a:srgbClr val="4BDCFF"/>
                </a:solidFill>
                <a:latin typeface="Aptos"/>
              </a:defRPr>
            </a:pPr>
            <a:r>
              <a:t>HL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2697480"/>
            <a:ext cx="1920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700"/>
              </a:spcAft>
              <a:defRPr sz="1300" b="1">
                <a:solidFill>
                  <a:srgbClr val="F5F9FF"/>
                </a:solidFill>
                <a:latin typeface="Aptos"/>
              </a:defRPr>
            </a:pPr>
            <a:r>
              <a:t>HEALTHLENS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396597"/>
            <a:ext cx="1645920" cy="632603"/>
          </a:xfrm>
          <a:prstGeom prst="roundRect">
            <a:avLst/>
          </a:prstGeom>
          <a:solidFill>
            <a:srgbClr val="0F2A4E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773948"/>
            <a:ext cx="15544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2599FF"/>
                </a:solidFill>
                <a:latin typeface="Aptos"/>
              </a:defRPr>
            </a:pPr>
            <a:r>
              <a:rPr lang="en-US" dirty="0"/>
              <a:t>SIMPLE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4396597"/>
            <a:ext cx="1417320" cy="632603"/>
          </a:xfrm>
          <a:prstGeom prst="roundRect">
            <a:avLst/>
          </a:prstGeom>
          <a:solidFill>
            <a:srgbClr val="0F2A4E"/>
          </a:solidFill>
          <a:ln>
            <a:solidFill>
              <a:srgbClr val="40DC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2651760" y="4798915"/>
            <a:ext cx="132588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0DCA7"/>
                </a:solidFill>
                <a:latin typeface="Aptos"/>
              </a:defRPr>
            </a:pPr>
            <a:r>
              <a:rPr lang="en-IN" dirty="0"/>
              <a:t>PRIVACY FIRST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413647"/>
            <a:ext cx="1645920" cy="615553"/>
          </a:xfrm>
          <a:prstGeom prst="roundRect">
            <a:avLst/>
          </a:prstGeom>
          <a:solidFill>
            <a:srgbClr val="0F2A4E"/>
          </a:solidFill>
          <a:ln>
            <a:solidFill>
              <a:srgbClr val="4B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06240" y="475030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00"/>
              </a:spcAft>
              <a:defRPr sz="1000" b="1">
                <a:solidFill>
                  <a:srgbClr val="4BDCFF"/>
                </a:solidFill>
                <a:latin typeface="Aptos"/>
              </a:defRPr>
            </a:pPr>
            <a:r>
              <a:t>RESPONSIBLE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1" y="5355485"/>
            <a:ext cx="10698479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5F9FF"/>
                </a:solidFill>
                <a:latin typeface="Aptos"/>
              </a:defRPr>
            </a:pPr>
            <a:r>
              <a:rPr lang="en-IN" sz="1300" b="1" dirty="0">
                <a:solidFill>
                  <a:srgbClr val="F5F9FF"/>
                </a:solidFill>
                <a:latin typeface="Aptos"/>
              </a:rPr>
              <a:t>our vision is simple: make essential health information easier to access, while keeping privacy, consent, and human judgment at the centre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700"/>
              </a:spcAft>
              <a:defRPr sz="900" b="1">
                <a:solidFill>
                  <a:srgbClr val="B4CAE4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17" name="Picture 16" descr="healthlens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960120"/>
            <a:ext cx="3977639" cy="32461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29600" y="6473952"/>
            <a:ext cx="3017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B4CAE4"/>
                </a:solidFill>
                <a:latin typeface="Aptos"/>
              </a:defRPr>
            </a:pPr>
            <a:r>
              <a:t>Illustrative visuals • Synthetic demo only</a:t>
            </a:r>
          </a:p>
        </p:txBody>
      </p:sp>
      <p:pic>
        <p:nvPicPr>
          <p:cNvPr id="19" name="Picture 18" descr="&lt;b&gt;Simple scan frame icon&lt;/b&gt; – Royalty-Free Vector | VectorStock">
            <a:extLst>
              <a:ext uri="{FF2B5EF4-FFF2-40B4-BE49-F238E27FC236}">
                <a16:creationId xmlns:a16="http://schemas.microsoft.com/office/drawing/2014/main" id="{E36504E1-1F1C-AD83-995A-4C5523E05AA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54393" y="4494276"/>
            <a:ext cx="583053" cy="25603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6B7978B-89E1-FF19-30F0-BA955EF4AA48}"/>
              </a:ext>
            </a:extLst>
          </p:cNvPr>
          <p:cNvSpPr txBox="1"/>
          <p:nvPr/>
        </p:nvSpPr>
        <p:spPr>
          <a:xfrm flipH="1">
            <a:off x="3048000" y="4377979"/>
            <a:ext cx="441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🛡️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8CCA563-1D48-7218-A427-6DF429AC7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9482" y="4445669"/>
            <a:ext cx="481784" cy="304639"/>
          </a:xfrm>
          <a:prstGeom prst="rect">
            <a:avLst/>
          </a:prstGeom>
        </p:spPr>
      </p:pic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971FC213-8511-1504-C531-305F8141A7A9}"/>
              </a:ext>
            </a:extLst>
          </p:cNvPr>
          <p:cNvSpPr/>
          <p:nvPr/>
        </p:nvSpPr>
        <p:spPr>
          <a:xfrm>
            <a:off x="594360" y="5726571"/>
            <a:ext cx="10149840" cy="668682"/>
          </a:xfrm>
          <a:prstGeom prst="roundRect">
            <a:avLst/>
          </a:prstGeom>
          <a:solidFill>
            <a:srgbClr val="143956"/>
          </a:solidFill>
          <a:ln>
            <a:solidFill>
              <a:srgbClr val="25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                                             </a:t>
            </a:r>
          </a:p>
          <a:p>
            <a:r>
              <a:rPr lang="en-IN" b="1" dirty="0"/>
              <a:t>                                           Technology should connect people to information— </a:t>
            </a:r>
          </a:p>
          <a:p>
            <a:r>
              <a:rPr lang="en-IN" b="1"/>
              <a:t>                                                               </a:t>
            </a:r>
            <a:r>
              <a:rPr lang="en-IN" b="1" dirty="0"/>
              <a:t>not compromise their trust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1481</Words>
  <Application>Microsoft Office PowerPoint</Application>
  <PresentationFormat>Widescreen</PresentationFormat>
  <Paragraphs>246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ACER</dc:creator>
  <cp:keywords/>
  <dc:description>generated using python-pptx</dc:description>
  <cp:lastModifiedBy>arshad hussain</cp:lastModifiedBy>
  <cp:revision>3</cp:revision>
  <dcterms:created xsi:type="dcterms:W3CDTF">2013-01-27T09:14:16Z</dcterms:created>
  <dcterms:modified xsi:type="dcterms:W3CDTF">2026-10-14T06:50:02Z</dcterms:modified>
  <cp:category/>
</cp:coreProperties>
</file>